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Why streaming matters for agentic workloads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512064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Long-running tool calls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Database queries, API calls, or file processing that take seconds to minutes; push progress % as work proceeds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Multi-step tool chains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Agent calls tool A then tool B; surface intermediate results immediately so the user isn't staring at a spinner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Human-in-the-loop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Push "I'm about to perform a destructive action — confirm?" before the tool completes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Live status dashboards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Show which tool is active, what stage it's in, and estimated time to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914400"/>
            <a:ext cx="612648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0515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Segoe UI"/>
              </a:rPr>
              <a:t>Streaming Architecture — Agent Backend → MCP Server → Backend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286000"/>
            <a:ext cx="1234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377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Segoe UI"/>
              </a:rPr>
              <a:t>Browser /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517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Chat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SSE listener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Progress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429000"/>
            <a:ext cx="960120" cy="27432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44728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369A1"/>
                </a:solidFill>
                <a:latin typeface="Segoe UI"/>
              </a:rPr>
              <a:t>GET /events (SSE)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1554480"/>
            <a:ext cx="1463040" cy="3291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Segoe UI"/>
              </a:rPr>
              <a:t>Agent Backend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7808" y="196596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198424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LLM / Orchestrator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07808" y="237744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239572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MCP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278892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8" y="280720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SSE Bus (Redis)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07808" y="320040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8" y="321868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Session 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794760"/>
            <a:ext cx="1371600" cy="54864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840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54D0E"/>
                </a:solidFill>
                <a:latin typeface="Segoe UI"/>
              </a:rPr>
              <a:t>Real-time streaming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050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54D0E"/>
                </a:solidFill>
                <a:latin typeface="Segoe UI"/>
              </a:rPr>
              <a:t>progress → SSE → browser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1554480"/>
            <a:ext cx="1325880" cy="32918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162763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534"/>
                </a:solidFill>
                <a:latin typeface="Segoe UI"/>
              </a:rPr>
              <a:t>MCP Server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196596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198424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POST /mcp router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237744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239572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@tool registry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278892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280720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JSON-RPC 2.0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72600" y="320040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321868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Notifications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04020" y="379476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4020" y="3840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54D0E"/>
                </a:solidFill>
                <a:latin typeface="Segoe UI"/>
              </a:rPr>
              <a:t>ctx.info() / progress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4020" y="40507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54D0E"/>
                </a:solidFill>
                <a:latin typeface="Segoe UI"/>
              </a:rPr>
              <a:t>→ SSE notifications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27080" y="16459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27080" y="17190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Databases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27080" y="23317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27080" y="2404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APIs / Search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27080" y="30175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27080" y="3090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File Storage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27080" y="37033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37764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Auth / Identity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178040" y="3063240"/>
            <a:ext cx="320040" cy="228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196327" y="28575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Segoe UI"/>
              </a:rPr>
              <a:t>HTTP
SSE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961120" y="2606039"/>
            <a:ext cx="320040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979408" y="2404871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Segoe UI"/>
              </a:rPr>
              <a:t>tools/call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8961120" y="3063239"/>
            <a:ext cx="320040" cy="0"/>
          </a:xfrm>
          <a:prstGeom prst="line">
            <a:avLst/>
          </a:prstGeom>
          <a:ln w="25400">
            <a:solidFill>
              <a:srgbClr val="16A3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979408" y="3090671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  <a:latin typeface="Segoe UI"/>
              </a:rPr>
              <a:t>SSE notifications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10607040" y="1897380"/>
            <a:ext cx="320040" cy="228599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607040" y="2537460"/>
            <a:ext cx="320040" cy="45719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607040" y="2948939"/>
            <a:ext cx="320040" cy="320040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607040" y="3360420"/>
            <a:ext cx="320040" cy="594360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943600" y="5212080"/>
            <a:ext cx="58521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6126480" y="546354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9224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Request (tools/call)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680960" y="5463540"/>
            <a:ext cx="320040" cy="0"/>
          </a:xfrm>
          <a:prstGeom prst="line">
            <a:avLst/>
          </a:prstGeom>
          <a:ln w="25400">
            <a:solidFill>
              <a:srgbClr val="16A3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04672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SSE streaming notifications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92640" y="5463540"/>
            <a:ext cx="320040" cy="0"/>
          </a:xfrm>
          <a:prstGeom prst="line">
            <a:avLst/>
          </a:prstGeom>
          <a:ln w="254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05840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Backend service calls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018520" y="534924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228832" y="5321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Streaming callout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Quick Demo: MCP Inspector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Interactive debugging &amp; testing tool for MCP servers — no agent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30352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What is MCP Inspector?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• Browser-based UI</a:t>
            </a:r>
            <a:r>
              <a:rPr sz="1100">
                <a:solidFill>
                  <a:srgbClr val="475569"/>
                </a:solidFill>
                <a:latin typeface="Segoe UI"/>
              </a:rPr>
              <a:t> that connects to any MCP server (stdio or Streamable HTTP)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• Discover tools</a:t>
            </a:r>
            <a:r>
              <a:rPr sz="1100">
                <a:solidFill>
                  <a:srgbClr val="475569"/>
                </a:solidFill>
                <a:latin typeface="Segoe UI"/>
              </a:rPr>
              <a:t> via initialize → tools/list — see names, schemas,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• Call tools interactively</a:t>
            </a:r>
            <a:r>
              <a:rPr sz="1100">
                <a:solidFill>
                  <a:srgbClr val="475569"/>
                </a:solidFill>
                <a:latin typeface="Segoe UI"/>
              </a:rPr>
              <a:t> — fill in args, fire tools/call, inspect JSON-RPC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• Watch SSE notifications</a:t>
            </a:r>
            <a:r>
              <a:rPr sz="1100">
                <a:solidFill>
                  <a:srgbClr val="475569"/>
                </a:solidFill>
                <a:latin typeface="Segoe UI"/>
              </a:rPr>
              <a:t> — progress, messages, and logging events stream live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337560"/>
            <a:ext cx="475488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474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Demo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1. </a:t>
            </a:r>
            <a:r>
              <a:rPr sz="1200" b="1">
                <a:solidFill>
                  <a:srgbClr val="1E293B"/>
                </a:solidFill>
                <a:latin typeface="Segoe UI"/>
              </a:rPr>
              <a:t>Launch  </a:t>
            </a:r>
            <a:r>
              <a:rPr sz="1100">
                <a:solidFill>
                  <a:srgbClr val="475569"/>
                </a:solidFill>
                <a:latin typeface="Segoe UI"/>
              </a:rPr>
              <a:t>npx @modelcontextprotocol/inspector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2452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2. </a:t>
            </a:r>
            <a:r>
              <a:rPr sz="1200" b="1">
                <a:solidFill>
                  <a:srgbClr val="1E293B"/>
                </a:solidFill>
                <a:latin typeface="Segoe UI"/>
              </a:rPr>
              <a:t>Connect  </a:t>
            </a:r>
            <a:r>
              <a:rPr sz="1100">
                <a:solidFill>
                  <a:srgbClr val="475569"/>
                </a:solidFill>
                <a:latin typeface="Segoe UI"/>
              </a:rPr>
              <a:t>Enter MCP server URL → http://localhost:3000/mcp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085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3. </a:t>
            </a:r>
            <a:r>
              <a:rPr sz="1200" b="1">
                <a:solidFill>
                  <a:srgbClr val="1E293B"/>
                </a:solidFill>
                <a:latin typeface="Segoe UI"/>
              </a:rPr>
              <a:t>Discover  </a:t>
            </a:r>
            <a:r>
              <a:rPr sz="1100">
                <a:solidFill>
                  <a:srgbClr val="475569"/>
                </a:solidFill>
                <a:latin typeface="Segoe UI"/>
              </a:rPr>
              <a:t>Click "List Tools" — see all registered @tool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926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4. </a:t>
            </a:r>
            <a:r>
              <a:rPr sz="1200" b="1">
                <a:solidFill>
                  <a:srgbClr val="1E293B"/>
                </a:solidFill>
                <a:latin typeface="Segoe UI"/>
              </a:rPr>
              <a:t>Execute  </a:t>
            </a:r>
            <a:r>
              <a:rPr sz="1100">
                <a:solidFill>
                  <a:srgbClr val="475569"/>
                </a:solidFill>
                <a:latin typeface="Segoe UI"/>
              </a:rPr>
              <a:t>Pick a tool → fill args → "Call Tool" → see JSON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766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5. </a:t>
            </a:r>
            <a:r>
              <a:rPr sz="1200" b="1">
                <a:solidFill>
                  <a:srgbClr val="1E293B"/>
                </a:solidFill>
                <a:latin typeface="Segoe UI"/>
              </a:rPr>
              <a:t>Stream  </a:t>
            </a:r>
            <a:r>
              <a:rPr sz="1100">
                <a:solidFill>
                  <a:srgbClr val="475569"/>
                </a:solidFill>
                <a:latin typeface="Segoe UI"/>
              </a:rPr>
              <a:t>Watch SSE panel — progress %, ctx.info() messages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97880"/>
            <a:ext cx="475488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3445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onsolas"/>
              </a:rPr>
              <a:t>$ npx @modelcontextprotocol/inspector --url http://localhost:3000/mcp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280160"/>
            <a:ext cx="59436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4173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Segoe UI"/>
              </a:rPr>
              <a:t>MCP Inspector — How It Works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011680"/>
            <a:ext cx="1280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1214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Segoe UI"/>
              </a:rPr>
              <a:t>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957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Browser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606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localhost:6274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8163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Fill args &amp;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011680"/>
            <a:ext cx="1737360" cy="26517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084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A3412"/>
                </a:solidFill>
                <a:latin typeface="Segoe UI"/>
              </a:rPr>
              <a:t>MCP Inspector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246888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48716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initialize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88036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289864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tools/list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29184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331012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tools/call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70332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372160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SSE viewer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11480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4133087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JSON-RPC 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2011680"/>
            <a:ext cx="1371600" cy="26517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6534"/>
                </a:solidFill>
                <a:latin typeface="Segoe UI"/>
              </a:rPr>
              <a:t>MCP Server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19" y="246888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19" y="24871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POST /mcp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19" y="297180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19" y="299008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@tool functions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9" y="347472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9" y="349300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Notifications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32719" y="397764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19" y="399592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Backend calls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89519" y="2560320"/>
            <a:ext cx="457201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07807" y="23042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Segoe UI"/>
              </a:rPr>
              <a:t>click / fill args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84080" y="2834640"/>
            <a:ext cx="457200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802368" y="2606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A580C"/>
                </a:solidFill>
                <a:latin typeface="Segoe UI"/>
              </a:rPr>
              <a:t>JSON-RPC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9784080" y="3474720"/>
            <a:ext cx="457200" cy="0"/>
          </a:xfrm>
          <a:prstGeom prst="line">
            <a:avLst/>
          </a:prstGeom>
          <a:ln w="25400">
            <a:solidFill>
              <a:srgbClr val="16A3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02368" y="3547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  <a:latin typeface="Segoe UI"/>
              </a:rPr>
              <a:t>SSE events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02920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59" y="50840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54D0E"/>
                </a:solidFill>
                <a:latin typeface="Segoe UI"/>
              </a:rPr>
              <a:t>What you see in the Inspector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79" y="5303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54D0E"/>
                </a:solidFill>
                <a:latin typeface="Segoe UI"/>
              </a:rPr>
              <a:t>• Tool list + input schemas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79" y="55046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54D0E"/>
                </a:solidFill>
                <a:latin typeface="Segoe UI"/>
              </a:rPr>
              <a:t>• JSON-RPC request / response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79" y="570585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54D0E"/>
                </a:solidFill>
                <a:latin typeface="Segoe UI"/>
              </a:rPr>
              <a:t>• Live SSE notification stream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59" y="502920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50840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40AF"/>
                </a:solidFill>
                <a:latin typeface="Segoe UI"/>
              </a:rPr>
              <a:t>Why it matters for demos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20" y="53035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40AF"/>
                </a:solidFill>
                <a:latin typeface="Segoe UI"/>
              </a:rPr>
              <a:t>• No agent code needed to test tools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20" y="55046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40AF"/>
                </a:solidFill>
                <a:latin typeface="Segoe UI"/>
              </a:rPr>
              <a:t>• Validate streaming before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20" y="5705855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40AF"/>
                </a:solidFill>
                <a:latin typeface="Segoe UI"/>
              </a:rPr>
              <a:t>• Debug JSON-RPC on the wire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Data Security &amp; Jira / Confluence Scenario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OBO authentication + tool-level authorization — per-user access control via MCP middleware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End-to-End OBO Security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1. MSAL Login</a:t>
            </a:r>
            <a:r>
              <a:rPr sz="1000">
                <a:solidFill>
                  <a:srgbClr val="475569"/>
                </a:solidFill>
                <a:latin typeface="Segoe UI"/>
              </a:rPr>
              <a:t> — User authenticates via React SPA → Entra ID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19656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2. OBO Exchange</a:t>
            </a:r>
            <a:r>
              <a:rPr sz="1000">
                <a:solidFill>
                  <a:srgbClr val="475569"/>
                </a:solidFill>
                <a:latin typeface="Segoe UI"/>
              </a:rPr>
              <a:t> — FastAPI backend exchanges token for Foundry + Atlassian scopes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3. Agent Invocation</a:t>
            </a:r>
            <a:r>
              <a:rPr sz="1000">
                <a:solidFill>
                  <a:srgbClr val="475569"/>
                </a:solidFill>
                <a:latin typeface="Segoe UI"/>
              </a:rPr>
              <a:t> — Foundry Agent receives request with OBO token attached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4. MCP Authentication</a:t>
            </a:r>
            <a:r>
              <a:rPr sz="1000">
                <a:solidFill>
                  <a:srgbClr val="475569"/>
                </a:solidFill>
                <a:latin typeface="Segoe UI"/>
              </a:rPr>
              <a:t> — Custom MCP server validates Atlassian token via /accessible-resources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15184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5. Tool Authorization</a:t>
            </a:r>
            <a:r>
              <a:rPr sz="1000">
                <a:solidFill>
                  <a:srgbClr val="475569"/>
                </a:solidFill>
                <a:latin typeface="Segoe UI"/>
              </a:rPr>
              <a:t> — AccessListMiddleware checks user sub → filters visible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6. Scoped Execution</a:t>
            </a:r>
            <a:r>
              <a:rPr sz="1000">
                <a:solidFill>
                  <a:srgbClr val="475569"/>
                </a:solidFill>
                <a:latin typeface="Segoe UI"/>
              </a:rPr>
              <a:t> — Only permitted tools execute; denied calls raise AuthorizationError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54864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Key Security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On-Behalf-Of (OBO): </a:t>
            </a:r>
            <a:r>
              <a:rPr sz="1000">
                <a:solidFill>
                  <a:srgbClr val="475569"/>
                </a:solidFill>
                <a:latin typeface="Segoe UI"/>
              </a:rPr>
              <a:t>User identity preserved end-to-end; no service-to-service tokens bypass user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9028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Tool-Level Authorization: </a:t>
            </a:r>
            <a:r>
              <a:rPr sz="1000">
                <a:solidFill>
                  <a:srgbClr val="475569"/>
                </a:solidFill>
                <a:latin typeface="Segoe UI"/>
              </a:rPr>
              <a:t>AccessListMiddleware filters tools per user sub. Both list and call are guarded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65775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user_access_list.json: </a:t>
            </a:r>
            <a:r>
              <a:rPr sz="1000">
                <a:solidFill>
                  <a:srgbClr val="475569"/>
                </a:solidFill>
                <a:latin typeface="Segoe UI"/>
              </a:rPr>
              <a:t>Declarative per-user config: { sub → [tools] }. Hot-reloaded on change, no restart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41263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Premium vs Freemium: </a:t>
            </a:r>
            <a:r>
              <a:rPr sz="1000">
                <a:solidFill>
                  <a:srgbClr val="475569"/>
                </a:solidFill>
                <a:latin typeface="Segoe UI"/>
              </a:rPr>
              <a:t>Premium: Jira + Confluence + Fabric. Freemium: Jira + Fabric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1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Segoe UI"/>
              </a:rPr>
              <a:t>• Fail Closed: </a:t>
            </a:r>
            <a:r>
              <a:rPr sz="1000">
                <a:solidFill>
                  <a:srgbClr val="475569"/>
                </a:solidFill>
                <a:latin typeface="Segoe UI"/>
              </a:rPr>
              <a:t>No token / missing sub / tool not in list → AuthorizationError. Hidden tools can't be called directly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097280"/>
            <a:ext cx="59436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1887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Segoe UI"/>
              </a:rPr>
              <a:t>Architecture — OBO Token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960120" cy="64008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74650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6534"/>
                </a:solidFill>
                <a:latin typeface="Segoe UI"/>
              </a:rPr>
              <a:t>User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47672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66534"/>
                </a:solidFill>
                <a:latin typeface="Segoe UI"/>
              </a:rPr>
              <a:t>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11226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75569"/>
                </a:solidFill>
                <a:latin typeface="Segoe UI"/>
              </a:rPr>
              <a:t>Jira+Confluence+Fabric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960120" cy="64008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52374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A3412"/>
                </a:solidFill>
                <a:latin typeface="Segoe UI"/>
              </a:rPr>
              <a:t>User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24912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A3412"/>
                </a:solidFill>
                <a:latin typeface="Segoe UI"/>
              </a:rPr>
              <a:t>Freemium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88950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75569"/>
                </a:solidFill>
                <a:latin typeface="Segoe UI"/>
              </a:rPr>
              <a:t>Jira+Fabric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1783080"/>
            <a:ext cx="1051560" cy="12344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82880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40AF"/>
                </a:solidFill>
                <a:latin typeface="Segoe UI"/>
              </a:rPr>
              <a:t>React SPA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71231" y="2103120"/>
            <a:ext cx="905256" cy="2286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1231" y="2121408"/>
            <a:ext cx="9052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40AF"/>
                </a:solidFill>
                <a:latin typeface="Segoe UI"/>
              </a:rPr>
              <a:t>MSAL Auth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71231" y="2377439"/>
            <a:ext cx="905256" cy="2286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2395727"/>
            <a:ext cx="9052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40AF"/>
                </a:solidFill>
                <a:latin typeface="Segoe UI"/>
              </a:rPr>
              <a:t>Entra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1231" y="2651760"/>
            <a:ext cx="905256" cy="2286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1231" y="2670048"/>
            <a:ext cx="9052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40AF"/>
                </a:solidFill>
                <a:latin typeface="Segoe UI"/>
              </a:rPr>
              <a:t>OBO Request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78040" y="2011680"/>
            <a:ext cx="320039" cy="13716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78040" y="2651760"/>
            <a:ext cx="320039" cy="137160"/>
          </a:xfrm>
          <a:prstGeom prst="line">
            <a:avLst/>
          </a:prstGeom>
          <a:ln w="1270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869680" y="1783080"/>
            <a:ext cx="1051560" cy="123444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182880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21A8"/>
                </a:solidFill>
                <a:latin typeface="Segoe UI"/>
              </a:rPr>
              <a:t>FastAPI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42832" y="2103120"/>
            <a:ext cx="905256" cy="22860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42832" y="2121408"/>
            <a:ext cx="9052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21A8"/>
                </a:solidFill>
                <a:latin typeface="Segoe UI"/>
              </a:rPr>
              <a:t>JWT Validate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42832" y="2377439"/>
            <a:ext cx="905256" cy="22860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2395727"/>
            <a:ext cx="9052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21A8"/>
                </a:solidFill>
                <a:latin typeface="Segoe UI"/>
              </a:rPr>
              <a:t>OBO Exchange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42832" y="2651760"/>
            <a:ext cx="905256" cy="22860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2832" y="2670048"/>
            <a:ext cx="9052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21A8"/>
                </a:solidFill>
                <a:latin typeface="Segoe UI"/>
              </a:rPr>
              <a:t>Scope Mgmt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49640" y="2400300"/>
            <a:ext cx="32004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67928" y="221742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563EB"/>
                </a:solidFill>
                <a:latin typeface="Segoe UI"/>
              </a:rPr>
              <a:t>Bearer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41280" y="169164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280" y="1737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1B1B"/>
                </a:solidFill>
                <a:latin typeface="Segoe UI"/>
              </a:rPr>
              <a:t>AI Foundry Agent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14432" y="2011680"/>
            <a:ext cx="1225296" cy="228600"/>
          </a:xfrm>
          <a:prstGeom prst="roundRect">
            <a:avLst>
              <a:gd name="adj" fmla="val 15000"/>
            </a:avLst>
          </a:prstGeom>
          <a:solidFill>
            <a:srgbClr val="FECDCD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14432" y="2029968"/>
            <a:ext cx="12252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1B1B"/>
                </a:solidFill>
                <a:latin typeface="Segoe UI"/>
              </a:rPr>
              <a:t>gpt-4.1-mini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14432" y="2286000"/>
            <a:ext cx="1225296" cy="228600"/>
          </a:xfrm>
          <a:prstGeom prst="roundRect">
            <a:avLst>
              <a:gd name="adj" fmla="val 15000"/>
            </a:avLst>
          </a:prstGeom>
          <a:solidFill>
            <a:srgbClr val="FECDCD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14432" y="2304288"/>
            <a:ext cx="12252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1B1B"/>
                </a:solidFill>
                <a:latin typeface="Segoe UI"/>
              </a:rPr>
              <a:t>MCP Tool Conn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14432" y="2560320"/>
            <a:ext cx="1225296" cy="228600"/>
          </a:xfrm>
          <a:prstGeom prst="roundRect">
            <a:avLst>
              <a:gd name="adj" fmla="val 15000"/>
            </a:avLst>
          </a:prstGeom>
          <a:solidFill>
            <a:srgbClr val="FECDCD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14432" y="2578608"/>
            <a:ext cx="12252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1B1B"/>
                </a:solidFill>
                <a:latin typeface="Segoe UI"/>
              </a:rPr>
              <a:t>Fabric Tool Conn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87000" y="274320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87000" y="27706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54D0E"/>
                </a:solidFill>
                <a:latin typeface="Segoe UI"/>
              </a:rPr>
              <a:t>OBO token → MCP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921240" y="2400300"/>
            <a:ext cx="320040" cy="0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939528" y="2217420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B21A8"/>
                </a:solidFill>
                <a:latin typeface="Segoe UI"/>
              </a:rPr>
              <a:t>OBO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3337560"/>
            <a:ext cx="5669280" cy="320040"/>
          </a:xfrm>
          <a:prstGeom prst="roundRect">
            <a:avLst>
              <a:gd name="adj" fmla="val 8000"/>
            </a:avLst>
          </a:prstGeom>
          <a:solidFill>
            <a:srgbClr val="E8EAF6"/>
          </a:solidFill>
          <a:ln w="127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37413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83593"/>
                </a:solidFill>
                <a:latin typeface="Segoe UI"/>
              </a:rPr>
              <a:t>Custom Atlassian MCP Server — Security Layers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379476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38404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A3412"/>
                </a:solidFill>
                <a:latin typeface="Segoe UI"/>
              </a:rPr>
              <a:t>① Authentication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91072" y="4087368"/>
            <a:ext cx="1636776" cy="246888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1072" y="4105656"/>
            <a:ext cx="1636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A3412"/>
                </a:solidFill>
                <a:latin typeface="Segoe UI"/>
              </a:rPr>
              <a:t>DebugTokenVerifier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91072" y="4379976"/>
            <a:ext cx="1636776" cy="246888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1072" y="4398264"/>
            <a:ext cx="1636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A3412"/>
                </a:solidFill>
                <a:latin typeface="Segoe UI"/>
              </a:rPr>
              <a:t>Atlassian API check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91072" y="4672584"/>
            <a:ext cx="1636776" cy="246888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91072" y="4690872"/>
            <a:ext cx="1636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A3412"/>
                </a:solidFill>
                <a:latin typeface="Segoe UI"/>
              </a:rPr>
              <a:t>JWT → extract sub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55080" y="4937760"/>
            <a:ext cx="1508760" cy="201168"/>
          </a:xfrm>
          <a:prstGeom prst="roundRect">
            <a:avLst>
              <a:gd name="adj" fmla="val 8000"/>
            </a:avLst>
          </a:prstGeom>
          <a:solidFill>
            <a:srgbClr val="FECDCD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5080" y="495604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991B1B"/>
                </a:solidFill>
                <a:latin typeface="Segoe UI"/>
              </a:rPr>
              <a:t>✗ Invalid → 401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001000" y="4503420"/>
            <a:ext cx="137160" cy="0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8138160" y="379476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3840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6534"/>
                </a:solidFill>
                <a:latin typeface="Segoe UI"/>
              </a:rPr>
              <a:t>② AccessListMiddleware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11312" y="4087368"/>
            <a:ext cx="1682496" cy="246888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11312" y="4105656"/>
            <a:ext cx="1682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66534"/>
                </a:solidFill>
                <a:latin typeface="Segoe UI"/>
              </a:rPr>
              <a:t>on_list_tools()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11312" y="4379976"/>
            <a:ext cx="1682496" cy="246888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11312" y="4398264"/>
            <a:ext cx="1682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66534"/>
                </a:solidFill>
                <a:latin typeface="Segoe UI"/>
              </a:rPr>
              <a:t>on_call_tool()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211312" y="4672584"/>
            <a:ext cx="1682496" cy="246888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11312" y="4690872"/>
            <a:ext cx="1682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66534"/>
                </a:solidFill>
                <a:latin typeface="Segoe UI"/>
              </a:rPr>
              <a:t>user_access_list.json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75320" y="4937760"/>
            <a:ext cx="1554480" cy="201168"/>
          </a:xfrm>
          <a:prstGeom prst="roundRect">
            <a:avLst>
              <a:gd name="adj" fmla="val 8000"/>
            </a:avLst>
          </a:prstGeom>
          <a:solidFill>
            <a:srgbClr val="FECDCD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75320" y="495604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991B1B"/>
                </a:solidFill>
                <a:latin typeface="Segoe UI"/>
              </a:rPr>
              <a:t>✗ AuthorizationError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966960" y="4503420"/>
            <a:ext cx="137160" cy="0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10104120" y="379476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04120" y="3840480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21A8"/>
                </a:solidFill>
                <a:latin typeface="Segoe UI"/>
              </a:rPr>
              <a:t>③ Tools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177272" y="4087368"/>
            <a:ext cx="1545336" cy="246888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77272" y="4105656"/>
            <a:ext cx="1545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21A8"/>
                </a:solidFill>
                <a:latin typeface="Segoe UI"/>
              </a:rPr>
              <a:t>jira_list_issues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77272" y="4379976"/>
            <a:ext cx="1545336" cy="246888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77272" y="4398264"/>
            <a:ext cx="1545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21A8"/>
                </a:solidFill>
                <a:latin typeface="Segoe UI"/>
              </a:rPr>
              <a:t>confluence_search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177272" y="4672584"/>
            <a:ext cx="1545336" cy="246888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77272" y="4690872"/>
            <a:ext cx="1545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21A8"/>
                </a:solidFill>
                <a:latin typeface="Segoe UI"/>
              </a:rPr>
              <a:t>Fabric Data Agent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195560" y="4937760"/>
            <a:ext cx="1508760" cy="20116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95560" y="495604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E40AF"/>
                </a:solidFill>
                <a:latin typeface="Segoe UI"/>
              </a:rPr>
              <a:t>→ Atlassian Cloud APIs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17920" y="53035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09360" y="5349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6534"/>
                </a:solidFill>
                <a:latin typeface="Segoe UI"/>
              </a:rPr>
              <a:t>User A — Premium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09360" y="5623559"/>
            <a:ext cx="804672" cy="22860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5641848"/>
            <a:ext cx="80467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6534"/>
                </a:solidFill>
                <a:latin typeface="Segoe UI"/>
              </a:rPr>
              <a:t>✓ jira_list_issues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178040" y="5623559"/>
            <a:ext cx="804672" cy="22860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78040" y="5641848"/>
            <a:ext cx="80467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6534"/>
                </a:solidFill>
                <a:latin typeface="Segoe UI"/>
              </a:rPr>
              <a:t>✓ confluence_search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046720" y="5623559"/>
            <a:ext cx="804672" cy="22860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46720" y="5641848"/>
            <a:ext cx="80467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6534"/>
                </a:solidFill>
                <a:latin typeface="Segoe UI"/>
              </a:rPr>
              <a:t>✓ Fabric Data Agent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9360" y="592531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Segoe UI"/>
              </a:rPr>
              <a:t>"Show Jira issues + search Confluence"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09360" y="610819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6534"/>
                </a:solidFill>
                <a:latin typeface="Segoe UI"/>
              </a:rPr>
              <a:t>→ All 3 tools available, full access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098280" y="53035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189720" y="53492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A3412"/>
                </a:solidFill>
                <a:latin typeface="Segoe UI"/>
              </a:rPr>
              <a:t>User B — Freemium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189720" y="5623559"/>
            <a:ext cx="804672" cy="22860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189720" y="5641848"/>
            <a:ext cx="80467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6534"/>
                </a:solidFill>
                <a:latin typeface="Segoe UI"/>
              </a:rPr>
              <a:t>✓ jira_list_issues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058400" y="5623559"/>
            <a:ext cx="804672" cy="228600"/>
          </a:xfrm>
          <a:prstGeom prst="roundRect">
            <a:avLst>
              <a:gd name="adj" fmla="val 15000"/>
            </a:avLst>
          </a:prstGeom>
          <a:solidFill>
            <a:srgbClr val="FECDCD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058400" y="5641848"/>
            <a:ext cx="80467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1B1B"/>
                </a:solidFill>
                <a:latin typeface="Segoe UI"/>
              </a:rPr>
              <a:t>✗ confluence_search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927080" y="5623559"/>
            <a:ext cx="804672" cy="22860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927080" y="5641848"/>
            <a:ext cx="80467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6534"/>
                </a:solidFill>
                <a:latin typeface="Segoe UI"/>
              </a:rPr>
              <a:t>✓ Fabric Data Agent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592531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Segoe UI"/>
              </a:rPr>
              <a:t>"Search Confluence for onboarding docs"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89720" y="610819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91B1B"/>
                </a:solidFill>
                <a:latin typeface="Segoe UI"/>
              </a:rPr>
              <a:t>→ AuthorizationError: Not authorized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Data Security Deep Dive — MCP Server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Authentication → Authorization → Tool Execution — three security layers protect every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A3412"/>
                </a:solidFill>
                <a:latin typeface="Segoe UI"/>
              </a:rPr>
              <a:t>① Authentication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3412"/>
                </a:solidFill>
                <a:latin typeface="Segoe UI"/>
              </a:rPr>
              <a:t>Token Validation: </a:t>
            </a:r>
            <a:r>
              <a:rPr sz="900">
                <a:solidFill>
                  <a:srgbClr val="475569"/>
                </a:solidFill>
                <a:latin typeface="Segoe UI"/>
              </a:rPr>
              <a:t>DebugTokenVerifier calls Atlassian /accessible-resources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3412"/>
                </a:solidFill>
                <a:latin typeface="Segoe UI"/>
              </a:rPr>
              <a:t>JWT Decode: </a:t>
            </a:r>
            <a:r>
              <a:rPr sz="900">
                <a:solidFill>
                  <a:srgbClr val="475569"/>
                </a:solidFill>
                <a:latin typeface="Segoe UI"/>
              </a:rPr>
              <a:t>Extract user sub claim (unverified) for identity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0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3412"/>
                </a:solidFill>
                <a:latin typeface="Segoe UI"/>
              </a:rPr>
              <a:t>Cloud ID Cache: </a:t>
            </a:r>
            <a:r>
              <a:rPr sz="900">
                <a:solidFill>
                  <a:srgbClr val="475569"/>
                </a:solidFill>
                <a:latin typeface="Segoe UI"/>
              </a:rPr>
              <a:t>Memoize Atlassian cloud IDs per user sub for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76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A3412"/>
                </a:solidFill>
                <a:latin typeface="Segoe UI"/>
              </a:rPr>
              <a:t>Fail Fast: </a:t>
            </a:r>
            <a:r>
              <a:rPr sz="900">
                <a:solidFill>
                  <a:srgbClr val="475569"/>
                </a:solidFill>
                <a:latin typeface="Segoe UI"/>
              </a:rPr>
              <a:t>Invalid token → 401 before reaching any tool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9260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6534"/>
                </a:solidFill>
                <a:latin typeface="Segoe UI"/>
              </a:rPr>
              <a:t>② AccessListMiddleware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Segoe UI"/>
              </a:rPr>
              <a:t>on_list_tools(): </a:t>
            </a:r>
            <a:r>
              <a:rPr sz="900">
                <a:solidFill>
                  <a:srgbClr val="475569"/>
                </a:solidFill>
                <a:latin typeface="Segoe UI"/>
              </a:rPr>
              <a:t>Decode JWT → load user_access_list.json → return only allowed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935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Segoe UI"/>
              </a:rPr>
              <a:t>on_call_tool(): </a:t>
            </a:r>
            <a:r>
              <a:rPr sz="900">
                <a:solidFill>
                  <a:srgbClr val="475569"/>
                </a:solidFill>
                <a:latin typeface="Segoe UI"/>
              </a:rPr>
              <a:t>Verify tool name in user's allowed set; raise AuthorizationError if denied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9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Segoe UI"/>
              </a:rPr>
              <a:t>Hot Reload: </a:t>
            </a:r>
            <a:r>
              <a:rPr sz="900">
                <a:solidFill>
                  <a:srgbClr val="475569"/>
                </a:solidFill>
                <a:latin typeface="Segoe UI"/>
              </a:rPr>
              <a:t>Watches file mtime; auto-reloads permissions without server restart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05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Segoe UI"/>
              </a:rPr>
              <a:t>Wildcard: </a:t>
            </a:r>
            <a:r>
              <a:rPr sz="900">
                <a:solidFill>
                  <a:srgbClr val="475569"/>
                </a:solidFill>
                <a:latin typeface="Segoe UI"/>
              </a:rPr>
              <a:t>Grant all tools with "*" in allowed_tools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61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Segoe UI"/>
              </a:rPr>
              <a:t>Thread Safe: </a:t>
            </a:r>
            <a:r>
              <a:rPr sz="900">
                <a:solidFill>
                  <a:srgbClr val="475569"/>
                </a:solidFill>
                <a:latin typeface="Segoe UI"/>
              </a:rPr>
              <a:t>File loading protected by threading lock for concurrent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892040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21A8"/>
                </a:solidFill>
                <a:latin typeface="Segoe UI"/>
              </a:rPr>
              <a:t>③ Tool Execution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21A8"/>
                </a:solidFill>
                <a:latin typeface="Segoe UI"/>
              </a:rPr>
              <a:t>jira_list_issues: </a:t>
            </a:r>
            <a:r>
              <a:rPr sz="900">
                <a:solidFill>
                  <a:srgbClr val="475569"/>
                </a:solidFill>
                <a:latin typeface="Segoe UI"/>
              </a:rPr>
              <a:t>Resolve Jira cloud_id → POST /search/jql with user's OBO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59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21A8"/>
                </a:solidFill>
                <a:latin typeface="Segoe UI"/>
              </a:rPr>
              <a:t>confluence_search_pages: </a:t>
            </a:r>
            <a:r>
              <a:rPr sz="900">
                <a:solidFill>
                  <a:srgbClr val="475569"/>
                </a:solidFill>
                <a:latin typeface="Segoe UI"/>
              </a:rPr>
              <a:t>Resolve Confluence site → CQL search via /wiki/rest/api/search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15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21A8"/>
                </a:solidFill>
                <a:latin typeface="Segoe UI"/>
              </a:rPr>
              <a:t>Cloud ID Resolution: </a:t>
            </a:r>
            <a:r>
              <a:rPr sz="900">
                <a:solidFill>
                  <a:srgbClr val="475569"/>
                </a:solidFill>
                <a:latin typeface="Segoe UI"/>
              </a:rPr>
              <a:t>Probes accessible resources to find correct Atlassian site per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716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21A8"/>
                </a:solidFill>
                <a:latin typeface="Segoe UI"/>
              </a:rPr>
              <a:t>Fabric Data Agent: </a:t>
            </a:r>
            <a:r>
              <a:rPr sz="900">
                <a:solidFill>
                  <a:srgbClr val="475569"/>
                </a:solidFill>
                <a:latin typeface="Segoe UI"/>
              </a:rPr>
              <a:t>Microsoft-managed MCP tool with Row-Level Security on Lakehouse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1097280"/>
            <a:ext cx="7680960" cy="5440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118872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Segoe UI"/>
              </a:rPr>
              <a:t>Request Flow — MCP Client → Auth → Middleware → Tools → Atlassian APIs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169164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1764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Segoe UI"/>
              </a:rPr>
              <a:t>MCP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2011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Foundry Agent /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2194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40AF"/>
                </a:solidFill>
                <a:latin typeface="Segoe UI"/>
              </a:rPr>
              <a:t>Bearer Token attached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52159" y="2057400"/>
            <a:ext cx="27432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72199" y="169164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199" y="17647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A3412"/>
                </a:solidFill>
                <a:latin typeface="Segoe UI"/>
              </a:rPr>
              <a:t>① Auth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199" y="20116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Validate Atlassian token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199" y="21945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Decode JWT → sub claim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26679" y="2057400"/>
            <a:ext cx="274321" cy="0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046719" y="169164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17647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6534"/>
                </a:solidFill>
                <a:latin typeface="Segoe UI"/>
              </a:rPr>
              <a:t>② Middleware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9" y="201168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Filter tools per 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21945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Guard tool calls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01199" y="2057400"/>
            <a:ext cx="274320" cy="0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921239" y="169164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39" y="17647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21A8"/>
                </a:solidFill>
                <a:latin typeface="Segoe UI"/>
              </a:rPr>
              <a:t>③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39" y="20116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jira / confluence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39" y="21945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→ Atlassian APIs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23959" y="2423160"/>
            <a:ext cx="0" cy="228600"/>
          </a:xfrm>
          <a:prstGeom prst="line">
            <a:avLst/>
          </a:prstGeom>
          <a:ln w="1905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955279" y="2697480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0999" y="27249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91B1B"/>
                </a:solidFill>
                <a:latin typeface="Segoe UI"/>
              </a:rPr>
              <a:t>✗ AuthorizationError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0999" y="289864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Segoe UI"/>
              </a:rPr>
              <a:t>tool not in user's allowed set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2926080"/>
            <a:ext cx="7223760" cy="14630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79" y="2971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user_access_list.json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299923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(hot-reloaded on change — no server restart needed)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26279" y="3273552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0" y="331012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Segoe UI"/>
              </a:rPr>
              <a:t>User A (sub: 70121:9f08...)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5204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Segoe UI"/>
              </a:rPr>
              <a:t>allowed_tools: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3703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6534"/>
                </a:solidFill>
                <a:latin typeface="Consolas"/>
              </a:rPr>
              <a:t>[  "confluence_search_pages",  "jira_list_issues" 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9319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Segoe UI"/>
              </a:rPr>
              <a:t>→ Sees both Jira and Confluence tools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3273552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83879" y="331012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A3412"/>
                </a:solidFill>
                <a:latin typeface="Segoe UI"/>
              </a:rPr>
              <a:t>User B (sub: 557058:d665...)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35204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Segoe UI"/>
              </a:rPr>
              <a:t>allowed_tools: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79" y="3703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3412"/>
                </a:solidFill>
                <a:latin typeface="Consolas"/>
              </a:rPr>
              <a:t>[  "jira_list_issues"  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79" y="39319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A3412"/>
                </a:solidFill>
                <a:latin typeface="Segoe UI"/>
              </a:rPr>
              <a:t>→ Only Jira tool visible; Confluence blocked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89120" y="4572000"/>
            <a:ext cx="722376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26279" y="4645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Segoe UI"/>
              </a:rPr>
              <a:t>Deployment &amp; Configuration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26279" y="4919472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MCP Server: </a:t>
            </a:r>
            <a:r>
              <a:rPr sz="900">
                <a:solidFill>
                  <a:srgbClr val="475569"/>
                </a:solidFill>
                <a:latin typeface="Segoe UI"/>
              </a:rPr>
              <a:t>FastMCP on Azure Container Apps, Streamable HTTP, port 8000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26279" y="516636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Backend API: </a:t>
            </a:r>
            <a:r>
              <a:rPr sz="900">
                <a:solidFill>
                  <a:srgbClr val="475569"/>
                </a:solidFill>
                <a:latin typeface="Segoe UI"/>
              </a:rPr>
              <a:t>FastAPI on ACA, validates JWT via JWKS (Entra ID), exchanges OBO tokens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6279" y="5413248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Frontend: </a:t>
            </a:r>
            <a:r>
              <a:rPr sz="900">
                <a:solidFill>
                  <a:srgbClr val="475569"/>
                </a:solidFill>
                <a:latin typeface="Segoe UI"/>
              </a:rPr>
              <a:t>React SPA with MSAL.js, authenticates via Entra ID, acquires scoped tokens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26279" y="5660136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Foundry Agent: </a:t>
            </a:r>
            <a:r>
              <a:rPr sz="900">
                <a:solidFill>
                  <a:srgbClr val="475569"/>
                </a:solidFill>
                <a:latin typeface="Segoe UI"/>
              </a:rPr>
              <a:t>gpt-4.1-mini, connected to MCP tool + Fabric Data Agent MCP tool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6279" y="5907023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Fabric Integration: </a:t>
            </a:r>
            <a:r>
              <a:rPr sz="900">
                <a:solidFill>
                  <a:srgbClr val="475569"/>
                </a:solidFill>
                <a:latin typeface="Segoe UI"/>
              </a:rPr>
              <a:t>Fabric Data Agent with Row-Level Security on Lakehouse data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6279" y="6153911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Agent Instructions: </a:t>
            </a:r>
            <a:r>
              <a:rPr sz="900">
                <a:solidFill>
                  <a:srgbClr val="475569"/>
                </a:solidFill>
                <a:latin typeface="Segoe UI"/>
              </a:rPr>
              <a:t>"Use tools to answer. State which tool. Format URLs as markdown links."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