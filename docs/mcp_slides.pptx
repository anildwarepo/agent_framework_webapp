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Why streaming matters for agentic workloads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512064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Long-running tool calls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Database queries, API calls, or file processing that take seconds to minutes; push progress % as work proceeds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Multi-step tool chains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Agent calls tool A then tool B; surface intermediate results immediately so the user isn't staring at a spinner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Human-in-the-loop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Push "I'm about to perform a destructive action — confirm?" before the tool completes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Live status dashboards</a:t>
            </a:r>
            <a:r>
              <a:rPr sz="1200" b="0">
                <a:solidFill>
                  <a:srgbClr val="475569"/>
                </a:solidFill>
                <a:latin typeface="Segoe UI"/>
              </a:rPr>
              <a:t> — Show which tool is active, what stage it's in, and estimated time to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914400"/>
            <a:ext cx="612648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0515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Segoe UI"/>
              </a:rPr>
              <a:t>Streaming Architecture — Agent Backend → MCP Server → Backend Services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286000"/>
            <a:ext cx="1234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37744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Segoe UI"/>
              </a:rPr>
              <a:t>Browser /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517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Chat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SSE listener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Progress indicators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429000"/>
            <a:ext cx="960120" cy="27432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4472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369A1"/>
                </a:solidFill>
                <a:latin typeface="Segoe UI"/>
              </a:rPr>
              <a:t>GET /events (SSE)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1554480"/>
            <a:ext cx="1463040" cy="32918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627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E40AF"/>
                </a:solidFill>
                <a:latin typeface="Segoe UI"/>
              </a:rPr>
              <a:t>Agent Backend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7808" y="196596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7808" y="198424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LLM / Orchestrator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07808" y="237744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239572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MCP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278892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07808" y="280720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SSE Bus (Redis)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07808" y="3200400"/>
            <a:ext cx="1243584" cy="3200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3218688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40AF"/>
                </a:solidFill>
                <a:latin typeface="Segoe UI"/>
              </a:rPr>
              <a:t>Session 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794760"/>
            <a:ext cx="1371600" cy="5486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3840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54D0E"/>
                </a:solidFill>
                <a:latin typeface="Segoe UI"/>
              </a:rPr>
              <a:t>Real-time streaming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050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54D0E"/>
                </a:solidFill>
                <a:latin typeface="Segoe UI"/>
              </a:rPr>
              <a:t>progress → SSE → browser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1554480"/>
            <a:ext cx="1325880" cy="32918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162763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66534"/>
                </a:solidFill>
                <a:latin typeface="Segoe UI"/>
              </a:rPr>
              <a:t>MCP Server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196596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98424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POST /mcp router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37744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239572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@tool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278892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80720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JSON-RPC 2.0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72600" y="3200400"/>
            <a:ext cx="114300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218688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Notifications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04020" y="3794760"/>
            <a:ext cx="1280160" cy="5486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4020" y="3840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854D0E"/>
                </a:solidFill>
                <a:latin typeface="Segoe UI"/>
              </a:rPr>
              <a:t>ctx.info() / progress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04020" y="40507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54D0E"/>
                </a:solidFill>
                <a:latin typeface="Segoe UI"/>
              </a:rPr>
              <a:t>→ SSE notifications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27080" y="16459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27080" y="17190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Databases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27080" y="23317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27080" y="2404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APIs / Search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27080" y="30175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27080" y="3090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File Storage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27080" y="3703320"/>
            <a:ext cx="914400" cy="50292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27080" y="3776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B21A8"/>
                </a:solidFill>
                <a:latin typeface="Segoe UI"/>
              </a:rPr>
              <a:t>Auth / Identity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178040" y="3063240"/>
            <a:ext cx="320040" cy="2286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196327" y="28575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Segoe UI"/>
              </a:rPr>
              <a:t>HTTP
SSE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961120" y="2606039"/>
            <a:ext cx="320040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979408" y="2404871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  <a:latin typeface="Segoe UI"/>
              </a:rPr>
              <a:t>tools/call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8961120" y="3063239"/>
            <a:ext cx="32004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979408" y="3090671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Segoe UI"/>
              </a:rPr>
              <a:t>SSE notifications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10607040" y="1897380"/>
            <a:ext cx="320040" cy="228599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07040" y="2537460"/>
            <a:ext cx="320040" cy="45719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607040" y="2948939"/>
            <a:ext cx="320040" cy="32004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607040" y="3360420"/>
            <a:ext cx="320040" cy="594360"/>
          </a:xfrm>
          <a:prstGeom prst="line">
            <a:avLst/>
          </a:prstGeom>
          <a:ln w="19050">
            <a:solidFill>
              <a:srgbClr val="A855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943600" y="5212080"/>
            <a:ext cx="58521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126480" y="546354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49224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Request (tools/call)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680960" y="5463540"/>
            <a:ext cx="32004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804672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SSE streaming notifications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92640" y="5463540"/>
            <a:ext cx="320040" cy="0"/>
          </a:xfrm>
          <a:prstGeom prst="line">
            <a:avLst/>
          </a:prstGeom>
          <a:ln w="254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058400" y="53218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Backend service calls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018520" y="534924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228832" y="5321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Segoe UI"/>
              </a:rPr>
              <a:t>Streaming callout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293B"/>
                </a:solidFill>
                <a:latin typeface="Segoe UI"/>
              </a:rPr>
              <a:t>Quick Demo: MCP Inspector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Interactive debugging &amp; testing tool for MCP servers — no agent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30352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Segoe UI"/>
              </a:rPr>
              <a:t>What is MCP Inspector?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Browser-based UI</a:t>
            </a:r>
            <a:r>
              <a:rPr sz="1100">
                <a:solidFill>
                  <a:srgbClr val="475569"/>
                </a:solidFill>
                <a:latin typeface="Segoe UI"/>
              </a:rPr>
              <a:t> that connects to any MCP server (stdio or Streamable HTTP)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Discover tools</a:t>
            </a:r>
            <a:r>
              <a:rPr sz="1100">
                <a:solidFill>
                  <a:srgbClr val="475569"/>
                </a:solidFill>
                <a:latin typeface="Segoe UI"/>
              </a:rPr>
              <a:t> via initialize → tools/list — see names, schemas,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Call tools interactively</a:t>
            </a:r>
            <a:r>
              <a:rPr sz="1100">
                <a:solidFill>
                  <a:srgbClr val="475569"/>
                </a:solidFill>
                <a:latin typeface="Segoe UI"/>
              </a:rPr>
              <a:t> — fill in args, fire tools/call, inspect JSON-RPC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293B"/>
                </a:solidFill>
                <a:latin typeface="Segoe UI"/>
              </a:rPr>
              <a:t>• Watch SSE notifications</a:t>
            </a:r>
            <a:r>
              <a:rPr sz="1100">
                <a:solidFill>
                  <a:srgbClr val="475569"/>
                </a:solidFill>
                <a:latin typeface="Segoe UI"/>
              </a:rPr>
              <a:t> — progress, messages, and logging events stream live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337560"/>
            <a:ext cx="475488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474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Segoe UI"/>
              </a:rPr>
              <a:t>Demo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1. </a:t>
            </a:r>
            <a:r>
              <a:rPr sz="1200" b="1">
                <a:solidFill>
                  <a:srgbClr val="1E293B"/>
                </a:solidFill>
                <a:latin typeface="Segoe UI"/>
              </a:rPr>
              <a:t>Launch  </a:t>
            </a:r>
            <a:r>
              <a:rPr sz="1100">
                <a:solidFill>
                  <a:srgbClr val="475569"/>
                </a:solidFill>
                <a:latin typeface="Segoe UI"/>
              </a:rPr>
              <a:t>npx @modelcontextprotocol/inspector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2452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2. </a:t>
            </a:r>
            <a:r>
              <a:rPr sz="1200" b="1">
                <a:solidFill>
                  <a:srgbClr val="1E293B"/>
                </a:solidFill>
                <a:latin typeface="Segoe UI"/>
              </a:rPr>
              <a:t>Connect  </a:t>
            </a:r>
            <a:r>
              <a:rPr sz="1100">
                <a:solidFill>
                  <a:srgbClr val="475569"/>
                </a:solidFill>
                <a:latin typeface="Segoe UI"/>
              </a:rPr>
              <a:t>Enter MCP server URL → http://localhost:3000/mcp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085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3. </a:t>
            </a:r>
            <a:r>
              <a:rPr sz="1200" b="1">
                <a:solidFill>
                  <a:srgbClr val="1E293B"/>
                </a:solidFill>
                <a:latin typeface="Segoe UI"/>
              </a:rPr>
              <a:t>Discover  </a:t>
            </a:r>
            <a:r>
              <a:rPr sz="1100">
                <a:solidFill>
                  <a:srgbClr val="475569"/>
                </a:solidFill>
                <a:latin typeface="Segoe UI"/>
              </a:rPr>
              <a:t>Click "List Tools" — see all registered @tool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926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4. </a:t>
            </a:r>
            <a:r>
              <a:rPr sz="1200" b="1">
                <a:solidFill>
                  <a:srgbClr val="1E293B"/>
                </a:solidFill>
                <a:latin typeface="Segoe UI"/>
              </a:rPr>
              <a:t>Execute  </a:t>
            </a:r>
            <a:r>
              <a:rPr sz="1100">
                <a:solidFill>
                  <a:srgbClr val="475569"/>
                </a:solidFill>
                <a:latin typeface="Segoe UI"/>
              </a:rPr>
              <a:t>Pick a tool → fill args → "Call Tool" → see JSON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7667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6534"/>
                </a:solidFill>
                <a:latin typeface="Segoe UI"/>
              </a:rPr>
              <a:t>5. </a:t>
            </a:r>
            <a:r>
              <a:rPr sz="1200" b="1">
                <a:solidFill>
                  <a:srgbClr val="1E293B"/>
                </a:solidFill>
                <a:latin typeface="Segoe UI"/>
              </a:rPr>
              <a:t>Stream  </a:t>
            </a:r>
            <a:r>
              <a:rPr sz="1100">
                <a:solidFill>
                  <a:srgbClr val="475569"/>
                </a:solidFill>
                <a:latin typeface="Segoe UI"/>
              </a:rPr>
              <a:t>Watch SSE panel — progress %, ctx.info() messages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97880"/>
            <a:ext cx="475488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934456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onsolas"/>
              </a:rPr>
              <a:t>$ npx @modelcontextprotocol/inspector --url http://localhost:3000/mcp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280160"/>
            <a:ext cx="594360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4173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Segoe UI"/>
              </a:rPr>
              <a:t>MCP Inspector — How It Works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011680"/>
            <a:ext cx="1280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1214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  <a:latin typeface="Segoe UI"/>
              </a:rPr>
              <a:t>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957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Browser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6060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localhost:6274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8163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Fill args &amp;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011680"/>
            <a:ext cx="1737360" cy="26517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084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A3412"/>
                </a:solidFill>
                <a:latin typeface="Segoe UI"/>
              </a:rPr>
              <a:t>MCP Inspector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246888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48716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initialize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288036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289864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tools/list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29184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331012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tools/call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70332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372160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SSE viewer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114800"/>
            <a:ext cx="1463040" cy="320040"/>
          </a:xfrm>
          <a:prstGeom prst="roundRect">
            <a:avLst>
              <a:gd name="adj" fmla="val 15000"/>
            </a:avLst>
          </a:prstGeom>
          <a:solidFill>
            <a:srgbClr val="FED7AA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4133087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3412"/>
                </a:solidFill>
                <a:latin typeface="Segoe UI"/>
              </a:rPr>
              <a:t>JSON-RPC 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2011680"/>
            <a:ext cx="1371600" cy="26517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0" y="2084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66534"/>
                </a:solidFill>
                <a:latin typeface="Segoe UI"/>
              </a:rPr>
              <a:t>MCP Server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19" y="246888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32719" y="24871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POST /mcp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19" y="297180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19" y="299008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@tool functions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9" y="347472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9" y="349300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Notifications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32719" y="397764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19" y="399592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66534"/>
                </a:solidFill>
                <a:latin typeface="Segoe UI"/>
              </a:rPr>
              <a:t>Backend calls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589519" y="2560320"/>
            <a:ext cx="457201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07807" y="23042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Segoe UI"/>
              </a:rPr>
              <a:t>click / fill args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84080" y="2834640"/>
            <a:ext cx="457200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802368" y="26060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A580C"/>
                </a:solidFill>
                <a:latin typeface="Segoe UI"/>
              </a:rPr>
              <a:t>JSON-RPC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9784080" y="3474720"/>
            <a:ext cx="457200" cy="0"/>
          </a:xfrm>
          <a:prstGeom prst="line">
            <a:avLst/>
          </a:prstGeom>
          <a:ln w="25400">
            <a:solidFill>
              <a:srgbClr val="16A34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02368" y="3547872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Segoe UI"/>
              </a:rPr>
              <a:t>SSE events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02920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FEF9C3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59" y="50840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54D0E"/>
                </a:solidFill>
                <a:latin typeface="Segoe UI"/>
              </a:rPr>
              <a:t>What you see in the Inspector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5079" y="5303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54D0E"/>
                </a:solidFill>
                <a:latin typeface="Segoe UI"/>
              </a:rPr>
              <a:t>• Tool list + input schemas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79" y="55046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54D0E"/>
                </a:solidFill>
                <a:latin typeface="Segoe UI"/>
              </a:rPr>
              <a:t>• JSON-RPC request / response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79" y="570585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54D0E"/>
                </a:solidFill>
                <a:latin typeface="Segoe UI"/>
              </a:rPr>
              <a:t>• Live SSE notification stream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52559" y="502920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0" y="508406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40AF"/>
                </a:solidFill>
                <a:latin typeface="Segoe UI"/>
              </a:rPr>
              <a:t>Why it matters for demos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20" y="53035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40AF"/>
                </a:solidFill>
                <a:latin typeface="Segoe UI"/>
              </a:rPr>
              <a:t>• No agent code needed to test tools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720" y="550468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40AF"/>
                </a:solidFill>
                <a:latin typeface="Segoe UI"/>
              </a:rPr>
              <a:t>• Validate streaming before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5705855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E40AF"/>
                </a:solidFill>
                <a:latin typeface="Segoe UI"/>
              </a:rPr>
              <a:t>• Debug JSON-RPC on the wire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